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(Cr)</c:v>
                </c:pt>
              </c:strCache>
            </c:strRef>
          </c:tx>
          <c:spPr>
            <a:solidFill>
              <a:srgbClr val="1D6F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10.09</c:v>
                </c:pt>
                <c:pt idx="1">
                  <c:v>9.72</c:v>
                </c:pt>
                <c:pt idx="2">
                  <c:v>9.99</c:v>
                </c:pt>
                <c:pt idx="3">
                  <c:v>9.77</c:v>
                </c:pt>
                <c:pt idx="4">
                  <c:v>10.6</c:v>
                </c:pt>
                <c:pt idx="5">
                  <c:v>10.56</c:v>
                </c:pt>
                <c:pt idx="6">
                  <c:v>9.41</c:v>
                </c:pt>
                <c:pt idx="7">
                  <c:v>9.81</c:v>
                </c:pt>
                <c:pt idx="8">
                  <c:v>10.05</c:v>
                </c:pt>
                <c:pt idx="9">
                  <c:v>9.91</c:v>
                </c:pt>
                <c:pt idx="10">
                  <c:v>10.53</c:v>
                </c:pt>
                <c:pt idx="11">
                  <c:v>10.53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(L)</c:v>
                </c:pt>
              </c:strCache>
            </c:strRef>
          </c:tx>
          <c:spPr>
            <a:solidFill>
              <a:srgbClr val="0F1F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Bhopal</c:v>
                  </c:pt>
                  <c:pt idx="1">
                    <c:v>Delhi</c:v>
                  </c:pt>
                  <c:pt idx="2">
                    <c:v>Indore</c:v>
                  </c:pt>
                  <c:pt idx="3">
                    <c:v>Mumbai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312.45</c:v>
                </c:pt>
                <c:pt idx="1">
                  <c:v>302.45</c:v>
                </c:pt>
                <c:pt idx="2">
                  <c:v>306.02</c:v>
                </c:pt>
                <c:pt idx="3">
                  <c:v>286.1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(L)</c:v>
                </c:pt>
              </c:strCache>
            </c:strRef>
          </c:tx>
          <c:spPr>
            <a:solidFill>
              <a:srgbClr val="1D6F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Bhopal</c:v>
                  </c:pt>
                  <c:pt idx="1">
                    <c:v>Delhi</c:v>
                  </c:pt>
                  <c:pt idx="2">
                    <c:v>Indore</c:v>
                  </c:pt>
                  <c:pt idx="3">
                    <c:v>Mumbai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39.09</c:v>
                </c:pt>
                <c:pt idx="1">
                  <c:v>38.19</c:v>
                </c:pt>
                <c:pt idx="2">
                  <c:v>38.27</c:v>
                </c:pt>
                <c:pt idx="3">
                  <c:v>35.44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(Cr)</c:v>
                </c:pt>
              </c:strCache>
            </c:strRef>
          </c:tx>
          <c:spPr>
            <a:solidFill>
              <a:srgbClr val="1D6F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F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Headphones</c:v>
                  </c:pt>
                  <c:pt idx="1">
                    <c:v>Laptop</c:v>
                  </c:pt>
                  <c:pt idx="2">
                    <c:v>Oil</c:v>
                  </c:pt>
                  <c:pt idx="3">
                    <c:v>Rice</c:v>
                  </c:pt>
                  <c:pt idx="4">
                    <c:v>Shirt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1.33</c:v>
                </c:pt>
                <c:pt idx="1">
                  <c:v>1.4</c:v>
                </c:pt>
                <c:pt idx="2">
                  <c:v>1.39</c:v>
                </c:pt>
                <c:pt idx="3">
                  <c:v>1.46</c:v>
                </c:pt>
                <c:pt idx="4">
                  <c:v>1.36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F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628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Shape 2"/>
          <p:cNvSpPr/>
          <p:nvPr/>
        </p:nvSpPr>
        <p:spPr>
          <a:xfrm>
            <a:off x="475488" y="5029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D6F42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PROJECT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" y="96012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75488" y="31272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  •  MIS &amp; Data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35661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3-sheet interactive Excel dashboard built with Pivot Tables, Slicers, and Dynamic Charts to deliver structured MIS reporting across sales, branch performance, and product intelligence.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4553712"/>
            <a:ext cx="4572000" cy="18288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46634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D6F4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Microsoft Excel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48256" y="46634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2048256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Pivot Tables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21024" y="466344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6C3483"/>
          </a:solidFill>
          <a:ln/>
        </p:spPr>
      </p:sp>
      <p:sp>
        <p:nvSpPr>
          <p:cNvPr id="15" name="Text 13"/>
          <p:cNvSpPr/>
          <p:nvPr/>
        </p:nvSpPr>
        <p:spPr>
          <a:xfrm>
            <a:off x="3621024" y="4663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Slicers &amp; Filters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50292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62F4A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53035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₹3.95 Cr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9235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62F4A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3990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77840" y="1792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2402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62F4A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26771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12.49%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6609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310896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62F4A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313639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34.22%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77840" y="35295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97764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162F4A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400507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Cities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77840" y="43982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Covered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0690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61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Project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involved building a complete Sales &amp; Operations reporting system for a retail company operating across 4 cities in India.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contained 10,000 orders with details on products, categories, branches, delivery, and returns — but no structured reporting existed.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Microsoft Excel, I designed a 3-sheet interactive dashboard using Pivot Tables, Slicers, SUMIF/COUNTIF formulas, and Dynamic Pivot Charts.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7647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fully automated MIS report that updates with one click when any slicer filter is applied — no manual effort needed.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4297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1243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36592" y="17007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D6F42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16642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— Summarise 10K rows instantly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39712" y="170078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D6F42"/>
          </a:solidFill>
          <a:ln/>
        </p:spPr>
      </p:sp>
      <p:sp>
        <p:nvSpPr>
          <p:cNvPr id="18" name="Text 16"/>
          <p:cNvSpPr/>
          <p:nvPr/>
        </p:nvSpPr>
        <p:spPr>
          <a:xfrm>
            <a:off x="7059168" y="16642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Filters — Day, Month, City, Region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36592" y="208483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D6F42"/>
          </a:solidFill>
          <a:ln/>
        </p:spPr>
      </p:sp>
      <p:sp>
        <p:nvSpPr>
          <p:cNvPr id="20" name="Text 18"/>
          <p:cNvSpPr/>
          <p:nvPr/>
        </p:nvSpPr>
        <p:spPr>
          <a:xfrm>
            <a:off x="4956048" y="20482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 / COUNTIF / IF — Dynamic KPI card formulas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39712" y="208483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D6F42"/>
          </a:solidFill>
          <a:ln/>
        </p:spPr>
      </p:sp>
      <p:sp>
        <p:nvSpPr>
          <p:cNvPr id="22" name="Text 20"/>
          <p:cNvSpPr/>
          <p:nvPr/>
        </p:nvSpPr>
        <p:spPr>
          <a:xfrm>
            <a:off x="7059168" y="204825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— Visual scorecard styling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36592" y="246888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1D6F42"/>
          </a:solidFill>
          <a:ln/>
        </p:spPr>
      </p:sp>
      <p:sp>
        <p:nvSpPr>
          <p:cNvPr id="24" name="Text 22"/>
          <p:cNvSpPr/>
          <p:nvPr/>
        </p:nvSpPr>
        <p:spPr>
          <a:xfrm>
            <a:off x="4956048" y="243230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Pivot Charts — Bar, Donut &amp; Line charts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97180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31089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81728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Orders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0332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of transactions across 4 cities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84848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32320" y="3520440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City Branches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703320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Bhopal, Delhi, Indore &amp; Mumbai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1728" y="4032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4032504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Products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421538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Clothing, Electronics &amp; Grocery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84848" y="40325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32320" y="4032504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Months Data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4215384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Jan–Dec with seasonal trend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had 10,000+ orders in raw Excel files — but no structure, no KPIs, and no visibility into what was happening across branches, products, or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605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828800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828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" y="216712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 Reports or KPI Tracking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" y="24871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had no dashboard or structured report to monitor revenue, profit, or order trends. All data sat in raw sheets with no summary.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36592" y="1664208"/>
            <a:ext cx="41605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01184" y="1828800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/>
        </p:spPr>
      </p:sp>
      <p:sp>
        <p:nvSpPr>
          <p:cNvPr id="16" name="Text 14"/>
          <p:cNvSpPr/>
          <p:nvPr/>
        </p:nvSpPr>
        <p:spPr>
          <a:xfrm>
            <a:off x="4901184" y="1828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5838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01184" y="216712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Return Rate — Never Measured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01184" y="24871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34.22% return rate was causing ₹88.27 L in revenue loss every year — but no one had calculated or reported this number before this project.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41605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40156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6112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🏪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8912" y="373989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Performance Was Invisible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38912" y="405993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 city branches, there was no comparison structure. Whether Bhopal was outperforming Mumbai or not — nobody knew without manually digging through rows.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36592" y="3236976"/>
            <a:ext cx="4160520" cy="1444752"/>
          </a:xfrm>
          <a:prstGeom prst="roundRect">
            <a:avLst>
              <a:gd name="adj" fmla="val 63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01184" y="3401568"/>
            <a:ext cx="384048" cy="274320"/>
          </a:xfrm>
          <a:prstGeom prst="roundRect">
            <a:avLst>
              <a:gd name="adj" fmla="val 16667"/>
            </a:avLst>
          </a:prstGeom>
          <a:solidFill>
            <a:srgbClr val="0F1F3D"/>
          </a:solidFill>
          <a:ln/>
        </p:spPr>
      </p:sp>
      <p:sp>
        <p:nvSpPr>
          <p:cNvPr id="28" name="Text 26"/>
          <p:cNvSpPr/>
          <p:nvPr/>
        </p:nvSpPr>
        <p:spPr>
          <a:xfrm>
            <a:off x="4901184" y="3401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58384" y="3355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01184" y="3739896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Product-Level Intelligence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01184" y="405993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drives profit? Which should be discontinued? Which has the highest return rate? None of these questions could be answered from the raw file.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STRUCTURE &amp; GOAL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structured Excel workbook — 3 dedicated sheets, each serving a different stakeholder group.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50876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50876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F1F3D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" y="1965960"/>
            <a:ext cx="2834640" cy="3200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" y="162763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1D6F42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6276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0392" y="1600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Sheet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2011680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Leadership &amp;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3192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" y="26517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— ₹3.95 Cr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28986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— ₹49.25 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— 12.49%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3192" y="33924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— 10,000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— 34.22%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3192" y="39044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Built: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" y="416052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bar chart (Pivot)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3192" y="437997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donut chart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" y="459943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donut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192" y="4818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&amp; Month slicers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27832" y="150876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150876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1A5276"/>
          </a:solidFill>
          <a:ln/>
        </p:spPr>
      </p:sp>
      <p:sp>
        <p:nvSpPr>
          <p:cNvPr id="28" name="Shape 26"/>
          <p:cNvSpPr/>
          <p:nvPr/>
        </p:nvSpPr>
        <p:spPr>
          <a:xfrm>
            <a:off x="3227832" y="1965960"/>
            <a:ext cx="283464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9" name="Shape 27"/>
          <p:cNvSpPr/>
          <p:nvPr/>
        </p:nvSpPr>
        <p:spPr>
          <a:xfrm>
            <a:off x="3364992" y="162763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1D6F42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16276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22192" y="1600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Performance Sheet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337560" y="2011680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Operations &amp; Regional Managers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64992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26517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Branch (4 cities)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28986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comparison chart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64992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 — 4.0 days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64992" y="33924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 — ₹12.07 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64992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— 55,415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364992" y="39044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Built: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64992" y="416052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bar: Sales vs Profit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64992" y="437997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× Category chart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64992" y="459943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chart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64992" y="4818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slicer filter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99632" y="150876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99632" y="150876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6C3483"/>
          </a:solidFill>
          <a:ln/>
        </p:spPr>
      </p:sp>
      <p:sp>
        <p:nvSpPr>
          <p:cNvPr id="46" name="Shape 44"/>
          <p:cNvSpPr/>
          <p:nvPr/>
        </p:nvSpPr>
        <p:spPr>
          <a:xfrm>
            <a:off x="6199632" y="1965960"/>
            <a:ext cx="2834640" cy="320040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7" name="Shape 45"/>
          <p:cNvSpPr/>
          <p:nvPr/>
        </p:nvSpPr>
        <p:spPr>
          <a:xfrm>
            <a:off x="6336792" y="1627632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1D6F42"/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162763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93992" y="1600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Analysis Sheet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309360" y="2011680"/>
            <a:ext cx="2633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Category &amp; Procurement Teams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36792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36792" y="26517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sales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336792" y="289864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 products by sales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36792" y="31455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Impact — ₹88.27 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36792" y="339242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Unit — ₹604.15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36792" y="36393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trend by product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36792" y="39044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Built: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336792" y="4160520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column chart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336792" y="4379976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vs Profit combo chart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36792" y="459943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performer bar chart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336792" y="481888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line chart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 1: OVERVIEW DASHBOARD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609344" cy="777240"/>
          </a:xfrm>
          <a:prstGeom prst="roundRect">
            <a:avLst>
              <a:gd name="adj" fmla="val 9412"/>
            </a:avLst>
          </a:prstGeom>
          <a:solidFill>
            <a:srgbClr val="0F1F3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698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₹3.95 Cr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051560"/>
            <a:ext cx="1609344" cy="777240"/>
          </a:xfrm>
          <a:prstGeom prst="roundRect">
            <a:avLst>
              <a:gd name="adj" fmla="val 9412"/>
            </a:avLst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0698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₹49.25 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011680" y="1481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051560"/>
            <a:ext cx="1609344" cy="777240"/>
          </a:xfrm>
          <a:prstGeom prst="roundRect">
            <a:avLst>
              <a:gd name="adj" fmla="val 9412"/>
            </a:avLst>
          </a:prstGeom>
          <a:solidFill>
            <a:srgbClr val="0F1F3D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0698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12.49%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49040" y="1481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1051560"/>
            <a:ext cx="1609344" cy="777240"/>
          </a:xfrm>
          <a:prstGeom prst="roundRect">
            <a:avLst>
              <a:gd name="adj" fmla="val 9412"/>
            </a:avLst>
          </a:prstGeom>
          <a:solidFill>
            <a:srgbClr val="0F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10698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0" y="1481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23760" y="1051560"/>
            <a:ext cx="1609344" cy="777240"/>
          </a:xfrm>
          <a:prstGeom prst="roundRect">
            <a:avLst>
              <a:gd name="adj" fmla="val 9412"/>
            </a:avLst>
          </a:prstGeom>
          <a:solidFill>
            <a:srgbClr val="0F1F3D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1069848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34.22%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23760" y="1481328"/>
            <a:ext cx="16093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938528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0299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  (Pivot Chart)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331720"/>
          <a:ext cx="51663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5760720" y="1938528"/>
            <a:ext cx="310896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94360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Split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70448" y="2377440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1A5276"/>
          </a:solidFill>
          <a:ln/>
        </p:spPr>
      </p:sp>
      <p:sp>
        <p:nvSpPr>
          <p:cNvPr id="28" name="Text 25"/>
          <p:cNvSpPr/>
          <p:nvPr/>
        </p:nvSpPr>
        <p:spPr>
          <a:xfrm>
            <a:off x="5870448" y="23774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34%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3774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70448" y="267919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6C3483"/>
          </a:solidFill>
          <a:ln/>
        </p:spPr>
      </p:sp>
      <p:sp>
        <p:nvSpPr>
          <p:cNvPr id="31" name="Text 28"/>
          <p:cNvSpPr/>
          <p:nvPr/>
        </p:nvSpPr>
        <p:spPr>
          <a:xfrm>
            <a:off x="5870448" y="267919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32%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400800" y="2679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70448" y="2980944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1D6F42"/>
          </a:solidFill>
          <a:ln/>
        </p:spPr>
      </p:sp>
      <p:sp>
        <p:nvSpPr>
          <p:cNvPr id="34" name="Text 31"/>
          <p:cNvSpPr/>
          <p:nvPr/>
        </p:nvSpPr>
        <p:spPr>
          <a:xfrm>
            <a:off x="5870448" y="298094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34%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400800" y="2980944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760720" y="3401568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94360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Status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870448" y="3858768"/>
            <a:ext cx="475488" cy="246888"/>
          </a:xfrm>
          <a:prstGeom prst="roundRect">
            <a:avLst>
              <a:gd name="adj" fmla="val 14815"/>
            </a:avLst>
          </a:prstGeom>
          <a:solidFill>
            <a:srgbClr val="1D6F42"/>
          </a:solidFill>
          <a:ln/>
        </p:spPr>
      </p:sp>
      <p:sp>
        <p:nvSpPr>
          <p:cNvPr id="39" name="Text 36"/>
          <p:cNvSpPr/>
          <p:nvPr/>
        </p:nvSpPr>
        <p:spPr>
          <a:xfrm>
            <a:off x="5870448" y="385876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33%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19088" y="385876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870448" y="4178808"/>
            <a:ext cx="475488" cy="246888"/>
          </a:xfrm>
          <a:prstGeom prst="roundRect">
            <a:avLst>
              <a:gd name="adj" fmla="val 14815"/>
            </a:avLst>
          </a:prstGeom>
          <a:solidFill>
            <a:srgbClr val="C0392B"/>
          </a:solidFill>
          <a:ln/>
        </p:spPr>
      </p:sp>
      <p:sp>
        <p:nvSpPr>
          <p:cNvPr id="42" name="Text 39"/>
          <p:cNvSpPr/>
          <p:nvPr/>
        </p:nvSpPr>
        <p:spPr>
          <a:xfrm>
            <a:off x="5870448" y="417880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34%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419088" y="417880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870448" y="4498848"/>
            <a:ext cx="475488" cy="246888"/>
          </a:xfrm>
          <a:prstGeom prst="roundRect">
            <a:avLst>
              <a:gd name="adj" fmla="val 14815"/>
            </a:avLst>
          </a:prstGeom>
          <a:solidFill>
            <a:srgbClr val="E67E22"/>
          </a:solidFill>
          <a:ln/>
        </p:spPr>
      </p:sp>
      <p:sp>
        <p:nvSpPr>
          <p:cNvPr id="45" name="Text 42"/>
          <p:cNvSpPr/>
          <p:nvPr/>
        </p:nvSpPr>
        <p:spPr>
          <a:xfrm>
            <a:off x="5870448" y="449884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33%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419088" y="4498848"/>
            <a:ext cx="2286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 2: BRANCH PERFORMANCE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by Branch  (Pivot Chart)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508760"/>
          <a:ext cx="5166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950208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4041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vs Weekend Orders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4370832"/>
            <a:ext cx="1143000" cy="228600"/>
          </a:xfrm>
          <a:prstGeom prst="roundRect">
            <a:avLst>
              <a:gd name="adj" fmla="val 16000"/>
            </a:avLst>
          </a:prstGeom>
          <a:solidFill>
            <a:srgbClr val="0F1F3D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43708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  WD:1881  WE:691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673352" y="4370832"/>
            <a:ext cx="1143000" cy="228600"/>
          </a:xfrm>
          <a:prstGeom prst="roundRect">
            <a:avLst>
              <a:gd name="adj" fmla="val 16000"/>
            </a:avLst>
          </a:prstGeom>
          <a:solidFill>
            <a:srgbClr val="0F1F3D"/>
          </a:solidFill>
          <a:ln/>
        </p:spPr>
      </p:sp>
      <p:sp>
        <p:nvSpPr>
          <p:cNvPr id="15" name="Text 12"/>
          <p:cNvSpPr/>
          <p:nvPr/>
        </p:nvSpPr>
        <p:spPr>
          <a:xfrm>
            <a:off x="1673352" y="43708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 WD:1785  WE:752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935224" y="4370832"/>
            <a:ext cx="1143000" cy="228600"/>
          </a:xfrm>
          <a:prstGeom prst="roundRect">
            <a:avLst>
              <a:gd name="adj" fmla="val 16000"/>
            </a:avLst>
          </a:prstGeom>
          <a:solidFill>
            <a:srgbClr val="0F1F3D"/>
          </a:solidFill>
          <a:ln/>
        </p:spPr>
      </p:sp>
      <p:sp>
        <p:nvSpPr>
          <p:cNvPr id="17" name="Text 14"/>
          <p:cNvSpPr/>
          <p:nvPr/>
        </p:nvSpPr>
        <p:spPr>
          <a:xfrm>
            <a:off x="2935224" y="43708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  WD:1773  WE:697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197096" y="4370832"/>
            <a:ext cx="1143000" cy="228600"/>
          </a:xfrm>
          <a:prstGeom prst="roundRect">
            <a:avLst>
              <a:gd name="adj" fmla="val 16000"/>
            </a:avLst>
          </a:prstGeom>
          <a:solidFill>
            <a:srgbClr val="0F1F3D"/>
          </a:solidFill>
          <a:ln/>
        </p:spPr>
      </p:sp>
      <p:sp>
        <p:nvSpPr>
          <p:cNvPr id="19" name="Text 16"/>
          <p:cNvSpPr/>
          <p:nvPr/>
        </p:nvSpPr>
        <p:spPr>
          <a:xfrm>
            <a:off x="4197096" y="437083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 WD:1704  WE:717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760720" y="1078992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0F1F3D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111556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Days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76072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2039112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0F1F3D"/>
          </a:solidFill>
          <a:ln/>
        </p:spPr>
      </p:sp>
      <p:sp>
        <p:nvSpPr>
          <p:cNvPr id="24" name="Text 21"/>
          <p:cNvSpPr/>
          <p:nvPr/>
        </p:nvSpPr>
        <p:spPr>
          <a:xfrm>
            <a:off x="5760720" y="207568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₹12.07 K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76072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2999232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0F1F3D"/>
          </a:solidFill>
          <a:ln/>
        </p:spPr>
      </p:sp>
      <p:sp>
        <p:nvSpPr>
          <p:cNvPr id="27" name="Text 24"/>
          <p:cNvSpPr/>
          <p:nvPr/>
        </p:nvSpPr>
        <p:spPr>
          <a:xfrm>
            <a:off x="5760720" y="303580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55,415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760720" y="3456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60720" y="3959352"/>
            <a:ext cx="3108960" cy="804672"/>
          </a:xfrm>
          <a:prstGeom prst="roundRect">
            <a:avLst>
              <a:gd name="adj" fmla="val 9091"/>
            </a:avLst>
          </a:prstGeom>
          <a:solidFill>
            <a:srgbClr val="0F1F3D"/>
          </a:solidFill>
          <a:ln/>
        </p:spPr>
      </p:sp>
      <p:sp>
        <p:nvSpPr>
          <p:cNvPr id="30" name="Text 27"/>
          <p:cNvSpPr/>
          <p:nvPr/>
        </p:nvSpPr>
        <p:spPr>
          <a:xfrm>
            <a:off x="5760720" y="399592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₹88.27 L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760720" y="44165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Impact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60720" y="4892040"/>
            <a:ext cx="310896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SHEET 3: PRODUCT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34340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Sales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81328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886200"/>
            <a:ext cx="4343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Performers: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3977640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3" name="Text 10"/>
          <p:cNvSpPr/>
          <p:nvPr/>
        </p:nvSpPr>
        <p:spPr>
          <a:xfrm>
            <a:off x="1234440" y="3977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Jacket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234440" y="4224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₹12.74 Cr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026664" y="3977640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3026664" y="3977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Jeans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26664" y="4224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₹12.74 Cr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818888" y="3977640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4818888" y="3977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Wheat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818888" y="4224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₹13.01 Cr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611112" y="3977640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22" name="Text 19"/>
          <p:cNvSpPr/>
          <p:nvPr/>
        </p:nvSpPr>
        <p:spPr>
          <a:xfrm>
            <a:off x="6611112" y="39776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611112" y="422452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₹13.03 Cr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800600" y="1078992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1D6F42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1115568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₹14.59 Cr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800600" y="155448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— Top Product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00600" y="2066544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4800600" y="210312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₹88.27 L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800600" y="254203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Impact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054096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0F1F3D"/>
          </a:solidFill>
          <a:ln/>
        </p:spPr>
      </p:sp>
      <p:sp>
        <p:nvSpPr>
          <p:cNvPr id="31" name="Text 28"/>
          <p:cNvSpPr/>
          <p:nvPr/>
        </p:nvSpPr>
        <p:spPr>
          <a:xfrm>
            <a:off x="4800600" y="309067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₹604.15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4800600" y="35295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Unit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00600" y="4041648"/>
            <a:ext cx="4069080" cy="841248"/>
          </a:xfrm>
          <a:prstGeom prst="roundRect">
            <a:avLst>
              <a:gd name="adj" fmla="val 8696"/>
            </a:avLst>
          </a:prstGeom>
          <a:solidFill>
            <a:srgbClr val="E67E22"/>
          </a:solidFill>
          <a:ln/>
        </p:spPr>
      </p:sp>
      <p:sp>
        <p:nvSpPr>
          <p:cNvPr id="34" name="Text 31"/>
          <p:cNvSpPr/>
          <p:nvPr/>
        </p:nvSpPr>
        <p:spPr>
          <a:xfrm>
            <a:off x="4800600" y="4078224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34.22%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4800600" y="4517136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(All Products)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800600" y="4956048"/>
            <a:ext cx="4069080" cy="475488"/>
          </a:xfrm>
          <a:prstGeom prst="roundRect">
            <a:avLst>
              <a:gd name="adj" fmla="val 15385"/>
            </a:avLst>
          </a:prstGeom>
          <a:solidFill>
            <a:srgbClr val="E8F5EE"/>
          </a:solidFill>
          <a:ln/>
        </p:spPr>
      </p:sp>
      <p:sp>
        <p:nvSpPr>
          <p:cNvPr id="37" name="Text 34"/>
          <p:cNvSpPr/>
          <p:nvPr/>
        </p:nvSpPr>
        <p:spPr>
          <a:xfrm>
            <a:off x="4864608" y="497433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Fixing returns alone could push profit margin above 15% — a direct impact on EBITDA.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FROM THE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6032" y="107899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120700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0F1F3D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2070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56432" y="1225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0F1F3D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2252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Revenue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3192" y="1481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 is the Weakest Month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" y="179222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dip to ₹9.41 Cr in August — the lowest point of the year. Targeted promotions or campaigns in July–August could recover 5–8% seasonal revenue loss.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18304" y="1078992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55464" y="1207008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855464" y="12070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18704" y="1225296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7918704" y="122529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Operations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55464" y="148132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Rate Crisis — ₹88.27 L Lost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55464" y="179222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34.22% return rate is causing ₹88.27 L in annual revenue leakage. Root-cause analysis on quality, delivery damage, and product-expectation gaps is urgently needed.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39572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" y="2523744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1A5276"/>
          </a:solidFill>
          <a:ln/>
        </p:spPr>
      </p:sp>
      <p:sp>
        <p:nvSpPr>
          <p:cNvPr id="23" name="Text 21"/>
          <p:cNvSpPr/>
          <p:nvPr/>
        </p:nvSpPr>
        <p:spPr>
          <a:xfrm>
            <a:off x="393192" y="252374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56432" y="254203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Branch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93192" y="27980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Bhopal Leads — Mumbai Needs Attention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3192" y="31089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 earns ₹39.09 L profit vs Mumbai's ₹35.44 L on similar order volumes — a ₹3.65 L gap indicating operational inefficiency or pricing issues in Mumbai.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18304" y="2395728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55464" y="2523744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1D6F42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252374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18704" y="2542032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1D6F42"/>
          </a:solidFill>
          <a:ln/>
        </p:spPr>
      </p:sp>
      <p:sp>
        <p:nvSpPr>
          <p:cNvPr id="32" name="Text 30"/>
          <p:cNvSpPr/>
          <p:nvPr/>
        </p:nvSpPr>
        <p:spPr>
          <a:xfrm>
            <a:off x="7918704" y="254203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Product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55464" y="279806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Grocery Drives Volume, All Categories Balanced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55464" y="31089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tops at ₹14.59 Cr. All 3 categories hold ~34% revenue share each — a balanced portfolio that reduces dependency on any single category.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371246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3192" y="3840480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6C3483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" y="38404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56432" y="3858768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6C3483"/>
          </a:solidFill>
          <a:ln/>
        </p:spPr>
      </p:sp>
      <p:sp>
        <p:nvSpPr>
          <p:cNvPr id="39" name="Text 37"/>
          <p:cNvSpPr/>
          <p:nvPr/>
        </p:nvSpPr>
        <p:spPr>
          <a:xfrm>
            <a:off x="3456432" y="38587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Operations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3192" y="41148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Weekdays Are 4× Busier Than Weekends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393192" y="4425696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orders across all branches are ~4x higher than weekends. Weekend-specific promotions or flash sales are a clear, low-effort growth lever.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18304" y="3712464"/>
            <a:ext cx="41605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55464" y="3840480"/>
            <a:ext cx="347472" cy="237744"/>
          </a:xfrm>
          <a:prstGeom prst="roundRect">
            <a:avLst>
              <a:gd name="adj" fmla="val 19231"/>
            </a:avLst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4855464" y="384048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18704" y="3858768"/>
            <a:ext cx="804672" cy="201168"/>
          </a:xfrm>
          <a:prstGeom prst="roundRect">
            <a:avLst>
              <a:gd name="adj" fmla="val 18182"/>
            </a:avLst>
          </a:prstGeom>
          <a:solidFill>
            <a:srgbClr val="E67E22"/>
          </a:solidFill>
          <a:ln/>
        </p:spPr>
      </p:sp>
      <p:sp>
        <p:nvSpPr>
          <p:cNvPr id="46" name="Text 44"/>
          <p:cNvSpPr/>
          <p:nvPr/>
        </p:nvSpPr>
        <p:spPr>
          <a:xfrm>
            <a:off x="7918704" y="38587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Finance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55464" y="41148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Has Room to Grow to 15%+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855464" y="4425696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profit margin is 12.49% with ₹604.15 per unit. Reducing the 34.22% return rate alone could recover enough to push margin past 15% — a direct EBITDA improvement.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347472"/>
            <a:ext cx="1417320" cy="274320"/>
          </a:xfrm>
          <a:prstGeom prst="roundRect">
            <a:avLst>
              <a:gd name="adj" fmla="val 16667"/>
            </a:avLst>
          </a:prstGeom>
          <a:solidFill>
            <a:srgbClr val="1D6F42"/>
          </a:solidFill>
          <a:ln/>
        </p:spPr>
      </p:sp>
      <p:sp>
        <p:nvSpPr>
          <p:cNvPr id="6" name="Text 4"/>
          <p:cNvSpPr/>
          <p:nvPr/>
        </p:nvSpPr>
        <p:spPr>
          <a:xfrm>
            <a:off x="7406640" y="347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SLIDE 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325880"/>
            <a:ext cx="402336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✖  BEFORE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733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Excel file — no reports or dashboard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7568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KPI tracking or revenue scorecard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78024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34.22% return rate never measured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926080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comparison done manually every 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28416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826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product-level profitability view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730752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85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 (Aug dip) completely invisible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133088"/>
            <a:ext cx="164592" cy="164592"/>
          </a:xfrm>
          <a:prstGeom prst="roundRect">
            <a:avLst/>
          </a:prstGeom>
          <a:solidFill>
            <a:srgbClr val="FADB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8736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cities managed without data comparison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15968" y="26060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6F42"/>
                </a:solidFill>
              </a:rPr>
              <a:t>→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4846320" y="1078992"/>
            <a:ext cx="40233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78992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1D6F42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1325880"/>
            <a:ext cx="4023360" cy="256032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  AFTER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83480" y="171907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0" y="167335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3-sheet Excel MIS dashboard — fully interactive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3480" y="212140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207568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cards: ₹3.95 Cr revenue at a glance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2523744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247802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₹88.27 L return impact tracked and visible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2926080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2880360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City slicer for instant branch compare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83480" y="3328416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282696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&amp; low 5 product charts automatically ranked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730752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3685032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trend chart reveals Aug seasonal dip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83480" y="4133088"/>
            <a:ext cx="164592" cy="164592"/>
          </a:xfrm>
          <a:prstGeom prst="roundRect">
            <a:avLst>
              <a:gd name="adj" fmla="val 27778"/>
            </a:avLst>
          </a:prstGeom>
          <a:solidFill>
            <a:srgbClr val="E8F5EE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4087368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 Weekend pivot built for all 4 cities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4320" y="4919472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0F1F3D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3776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replaces manual effort with a structured, repeatable MIS system — saving hours per reporting cycle and enabling data-driven decisions across all teams.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347472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4048" y="1783080"/>
            <a:ext cx="3200400" cy="36576"/>
          </a:xfrm>
          <a:prstGeom prst="rect">
            <a:avLst/>
          </a:prstGeom>
          <a:solidFill>
            <a:srgbClr val="1D6F42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192024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core capabilities required for MIS Executive and Data Analyst roles — structured reporting, Excel proficiency, and business-focused data interpretation.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281635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D6F4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28163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 Executive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281635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28163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Analyst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333756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62847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3337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15568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Sheets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388620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62847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3886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4434840"/>
            <a:ext cx="4023360" cy="457200"/>
          </a:xfrm>
          <a:prstGeom prst="roundRect">
            <a:avLst>
              <a:gd name="adj" fmla="val 14000"/>
            </a:avLst>
          </a:prstGeom>
          <a:solidFill>
            <a:srgbClr val="16284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4434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502920"/>
            <a:ext cx="2194560" cy="2011680"/>
          </a:xfrm>
          <a:prstGeom prst="roundRect">
            <a:avLst>
              <a:gd name="adj" fmla="val 4545"/>
            </a:avLst>
          </a:prstGeom>
          <a:solidFill>
            <a:srgbClr val="162847"/>
          </a:solidFill>
          <a:ln/>
        </p:spPr>
      </p:sp>
      <p:sp>
        <p:nvSpPr>
          <p:cNvPr id="20" name="Text 18"/>
          <p:cNvSpPr/>
          <p:nvPr/>
        </p:nvSpPr>
        <p:spPr>
          <a:xfrm>
            <a:off x="4526280" y="685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636008" y="1380744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 Reporting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36008" y="1737360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structured, repeatable 3-sheet Excel report for leadership, operations, and product teams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502920"/>
            <a:ext cx="2194560" cy="2011680"/>
          </a:xfrm>
          <a:prstGeom prst="roundRect">
            <a:avLst>
              <a:gd name="adj" fmla="val 4545"/>
            </a:avLst>
          </a:prstGeom>
          <a:solidFill>
            <a:srgbClr val="16284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685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67728" y="1380744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67728" y="1737360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10,000 rows across 4 cities, 9 products, 12 months to extract 6 actionable insights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2715768"/>
            <a:ext cx="2194560" cy="2011680"/>
          </a:xfrm>
          <a:prstGeom prst="roundRect">
            <a:avLst>
              <a:gd name="adj" fmla="val 4545"/>
            </a:avLst>
          </a:prstGeom>
          <a:solidFill>
            <a:srgbClr val="16284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2898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4636008" y="3593592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Proficiency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636008" y="3950208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Slicers, SUMIF/COUNTIF, Conditional Formatting, Dynamic Pivot Charts — one workbook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58000" y="2715768"/>
            <a:ext cx="2194560" cy="2011680"/>
          </a:xfrm>
          <a:prstGeom prst="roundRect">
            <a:avLst>
              <a:gd name="adj" fmla="val 4545"/>
            </a:avLst>
          </a:prstGeom>
          <a:solidFill>
            <a:srgbClr val="162847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2898648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967728" y="3593592"/>
            <a:ext cx="19751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Thinking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67728" y="3950208"/>
            <a:ext cx="1975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₹88.27 L return impact and Aug seasonal dip — translated data into real recommendations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2026-06-25T06:31:18Z</dcterms:created>
  <dcterms:modified xsi:type="dcterms:W3CDTF">2026-06-25T06:31:18Z</dcterms:modified>
</cp:coreProperties>
</file>